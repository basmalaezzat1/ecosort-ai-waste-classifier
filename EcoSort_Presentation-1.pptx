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63A20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5577840"/>
            <a:ext cx="3931920" cy="3931920"/>
          </a:xfrm>
          <a:prstGeom prst="ellipse">
            <a:avLst/>
          </a:prstGeom>
          <a:solidFill>
            <a:srgbClr val="6FA84B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-1097280"/>
            <a:ext cx="2926080" cy="2926080"/>
          </a:xfrm>
          <a:prstGeom prst="ellipse">
            <a:avLst/>
          </a:prstGeom>
          <a:solidFill>
            <a:srgbClr val="EE7B3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iSchool  ×  Orange Digital Center (ODC)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051560" cy="1051560"/>
          </a:xfrm>
          <a:prstGeom prst="ellipse">
            <a:avLst/>
          </a:prstGeom>
          <a:solidFill>
            <a:srgbClr val="6FA84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681" y="1653921"/>
            <a:ext cx="578358" cy="5783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697480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EcoSort AI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640080" y="361188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F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AI Waste Classifier &amp; Eco-Rewards System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" y="4343400"/>
            <a:ext cx="3108960" cy="0"/>
          </a:xfrm>
          <a:prstGeom prst="line">
            <a:avLst/>
          </a:prstGeom>
          <a:noFill/>
          <a:ln w="19050">
            <a:solidFill>
              <a:srgbClr val="6FA84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45720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Student: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Basmala Ezzat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493776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3: Machine &amp; Deep Learning with Python  ·  Final Assessment Project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052560" y="11887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8366760" y="180136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F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CATEGORIES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iSchool  ×  Orange Digital Center (ODC)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The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349240" cy="4892040"/>
          </a:xfrm>
          <a:prstGeom prst="roundRect">
            <a:avLst>
              <a:gd name="adj" fmla="val 2243"/>
            </a:avLst>
          </a:prstGeom>
          <a:solidFill>
            <a:srgbClr val="FBE6D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3774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799" y="2504999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35915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Sorting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508760" y="2651760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labor-intensive, and costly to run at scale.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33649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799" y="3492551"/>
            <a:ext cx="311810" cy="3118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334670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Safety Hazards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508760" y="3639312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risk when handling batteries or sharp glass.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77240" y="4352544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99" y="4480103"/>
            <a:ext cx="311810" cy="3118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4334256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Contamination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508760" y="4626864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recyclables are ruined by improper sorting.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77240" y="534009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799" y="5467655"/>
            <a:ext cx="311810" cy="31181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08760" y="532180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Public Engagement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1508760" y="5614416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incentive keeps people recycling correctly.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080760" y="1508760"/>
            <a:ext cx="5349240" cy="4892040"/>
          </a:xfrm>
          <a:prstGeom prst="roundRect">
            <a:avLst>
              <a:gd name="adj" fmla="val 2243"/>
            </a:avLst>
          </a:prstGeom>
          <a:solidFill>
            <a:srgbClr val="E4EFDD"/>
          </a:solidFill>
          <a:ln/>
        </p:spPr>
      </p:sp>
      <p:sp>
        <p:nvSpPr>
          <p:cNvPr id="23" name="Text 17"/>
          <p:cNvSpPr/>
          <p:nvPr/>
        </p:nvSpPr>
        <p:spPr>
          <a:xfrm>
            <a:off x="6400800" y="17830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ECOSORT SOLUTION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6400800" y="23774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359" y="2504999"/>
            <a:ext cx="311810" cy="31181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132320" y="235915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Computer Vision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7132320" y="2651760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waste classification straight from a photo.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400800" y="33649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359" y="3492551"/>
            <a:ext cx="311810" cy="31181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132320" y="334670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Target Categories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7132320" y="3639312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sorting into distinct waste classes.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6400800" y="4352544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8359" y="4480103"/>
            <a:ext cx="311810" cy="31181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132320" y="4334256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App</a:t>
            </a:r>
            <a:endParaRPr lang="en-US" sz="1350" dirty="0"/>
          </a:p>
        </p:txBody>
      </p:sp>
      <p:sp>
        <p:nvSpPr>
          <p:cNvPr id="35" name="Text 26"/>
          <p:cNvSpPr/>
          <p:nvPr/>
        </p:nvSpPr>
        <p:spPr>
          <a:xfrm>
            <a:off x="7132320" y="4626864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users with eco-points and level ranks.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6400800" y="534009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8359" y="5467655"/>
            <a:ext cx="311810" cy="31181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132320" y="532180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Offset Metrics</a:t>
            </a:r>
            <a:endParaRPr lang="en-US" sz="1350" dirty="0"/>
          </a:p>
        </p:txBody>
      </p:sp>
      <p:sp>
        <p:nvSpPr>
          <p:cNvPr id="39" name="Text 29"/>
          <p:cNvSpPr/>
          <p:nvPr/>
        </p:nvSpPr>
        <p:spPr>
          <a:xfrm>
            <a:off x="7132320" y="5614416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real-time grams of CO2 saved per item.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iSchool  ×  Orange Digital Center (ODC)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246120" cy="4892040"/>
          </a:xfrm>
          <a:prstGeom prst="roundRect">
            <a:avLst>
              <a:gd name="adj" fmla="val 3380"/>
            </a:avLst>
          </a:prstGeom>
          <a:solidFill>
            <a:srgbClr val="F5F8F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6479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TARGET CLASSES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26974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2359152"/>
            <a:ext cx="329184" cy="329184"/>
          </a:xfrm>
          <a:prstGeom prst="ellipse">
            <a:avLst/>
          </a:prstGeom>
          <a:solidFill>
            <a:srgbClr val="E4EFD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2424989"/>
            <a:ext cx="197510" cy="1975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2286000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31520" y="2848356"/>
            <a:ext cx="26974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" y="2921508"/>
            <a:ext cx="329184" cy="329184"/>
          </a:xfrm>
          <a:prstGeom prst="ellipse">
            <a:avLst/>
          </a:prstGeom>
          <a:solidFill>
            <a:srgbClr val="E4EFD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085" y="2987345"/>
            <a:ext cx="197510" cy="1975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848356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31520" y="3410712"/>
            <a:ext cx="26974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841248" y="3483864"/>
            <a:ext cx="329184" cy="329184"/>
          </a:xfrm>
          <a:prstGeom prst="ellipse">
            <a:avLst/>
          </a:prstGeom>
          <a:solidFill>
            <a:srgbClr val="E4EFD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85" y="3549701"/>
            <a:ext cx="197510" cy="1975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410712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731520" y="3973068"/>
            <a:ext cx="26974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841248" y="4046220"/>
            <a:ext cx="329184" cy="329184"/>
          </a:xfrm>
          <a:prstGeom prst="ellipse">
            <a:avLst/>
          </a:prstGeom>
          <a:solidFill>
            <a:srgbClr val="E4EFD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85" y="4112057"/>
            <a:ext cx="197510" cy="1975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80160" y="3973068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Cardboard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731520" y="4535424"/>
            <a:ext cx="26974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841248" y="4608576"/>
            <a:ext cx="329184" cy="329184"/>
          </a:xfrm>
          <a:prstGeom prst="ellipse">
            <a:avLst/>
          </a:prstGeom>
          <a:solidFill>
            <a:srgbClr val="E4EFDD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085" y="4674413"/>
            <a:ext cx="197510" cy="19751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280160" y="4535424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731520" y="5097780"/>
            <a:ext cx="26974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</p:sp>
      <p:sp>
        <p:nvSpPr>
          <p:cNvPr id="27" name="Shape 20"/>
          <p:cNvSpPr/>
          <p:nvPr/>
        </p:nvSpPr>
        <p:spPr>
          <a:xfrm>
            <a:off x="841248" y="5170932"/>
            <a:ext cx="329184" cy="329184"/>
          </a:xfrm>
          <a:prstGeom prst="ellipse">
            <a:avLst/>
          </a:prstGeom>
          <a:solidFill>
            <a:srgbClr val="E4EFDD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085" y="5236769"/>
            <a:ext cx="197510" cy="19751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280160" y="5097780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Clothes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731520" y="5660136"/>
            <a:ext cx="26974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</p:sp>
      <p:sp>
        <p:nvSpPr>
          <p:cNvPr id="31" name="Shape 23"/>
          <p:cNvSpPr/>
          <p:nvPr/>
        </p:nvSpPr>
        <p:spPr>
          <a:xfrm>
            <a:off x="841248" y="5733288"/>
            <a:ext cx="329184" cy="329184"/>
          </a:xfrm>
          <a:prstGeom prst="ellipse">
            <a:avLst/>
          </a:prstGeom>
          <a:solidFill>
            <a:srgbClr val="E4EFDD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085" y="5799125"/>
            <a:ext cx="197510" cy="19751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280160" y="5660136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250" dirty="0"/>
          </a:p>
        </p:txBody>
      </p:sp>
      <p:sp>
        <p:nvSpPr>
          <p:cNvPr id="34" name="Shape 25"/>
          <p:cNvSpPr/>
          <p:nvPr/>
        </p:nvSpPr>
        <p:spPr>
          <a:xfrm>
            <a:off x="3931920" y="1508760"/>
            <a:ext cx="3840480" cy="4892040"/>
          </a:xfrm>
          <a:prstGeom prst="roundRect">
            <a:avLst>
              <a:gd name="adj" fmla="val 2857"/>
            </a:avLst>
          </a:prstGeom>
          <a:solidFill>
            <a:srgbClr val="F5F8F3"/>
          </a:solidFill>
          <a:ln/>
        </p:spPr>
      </p:sp>
      <p:sp>
        <p:nvSpPr>
          <p:cNvPr id="35" name="Text 26"/>
          <p:cNvSpPr/>
          <p:nvPr/>
        </p:nvSpPr>
        <p:spPr>
          <a:xfrm>
            <a:off x="4206240" y="17647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300" dirty="0"/>
          </a:p>
        </p:txBody>
      </p:sp>
      <p:sp>
        <p:nvSpPr>
          <p:cNvPr id="36" name="Shape 27"/>
          <p:cNvSpPr/>
          <p:nvPr/>
        </p:nvSpPr>
        <p:spPr>
          <a:xfrm>
            <a:off x="4206240" y="23317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9397" y="2444877"/>
            <a:ext cx="276606" cy="276606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4846320" y="23042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Resizing</a:t>
            </a:r>
            <a:endParaRPr lang="en-US" sz="1300" dirty="0"/>
          </a:p>
        </p:txBody>
      </p:sp>
      <p:sp>
        <p:nvSpPr>
          <p:cNvPr id="39" name="Text 29"/>
          <p:cNvSpPr/>
          <p:nvPr/>
        </p:nvSpPr>
        <p:spPr>
          <a:xfrm>
            <a:off x="4846320" y="256946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images resized to 224×224 RGB.</a:t>
            </a:r>
            <a:endParaRPr lang="en-US" sz="1050" dirty="0"/>
          </a:p>
        </p:txBody>
      </p:sp>
      <p:sp>
        <p:nvSpPr>
          <p:cNvPr id="40" name="Shape 30"/>
          <p:cNvSpPr/>
          <p:nvPr/>
        </p:nvSpPr>
        <p:spPr>
          <a:xfrm>
            <a:off x="4206240" y="326440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9397" y="3377565"/>
            <a:ext cx="276606" cy="276606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4846320" y="323697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300" dirty="0"/>
          </a:p>
        </p:txBody>
      </p:sp>
      <p:sp>
        <p:nvSpPr>
          <p:cNvPr id="43" name="Text 32"/>
          <p:cNvSpPr/>
          <p:nvPr/>
        </p:nvSpPr>
        <p:spPr>
          <a:xfrm>
            <a:off x="4846320" y="350215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values scaled to the [-1, 1] range.</a:t>
            </a:r>
            <a:endParaRPr lang="en-US" sz="1050" dirty="0"/>
          </a:p>
        </p:txBody>
      </p:sp>
      <p:sp>
        <p:nvSpPr>
          <p:cNvPr id="44" name="Shape 33"/>
          <p:cNvSpPr/>
          <p:nvPr/>
        </p:nvSpPr>
        <p:spPr>
          <a:xfrm>
            <a:off x="4206240" y="4197096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19397" y="4310253"/>
            <a:ext cx="276606" cy="276606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4846320" y="416966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1300" dirty="0"/>
          </a:p>
        </p:txBody>
      </p:sp>
      <p:sp>
        <p:nvSpPr>
          <p:cNvPr id="47" name="Text 35"/>
          <p:cNvSpPr/>
          <p:nvPr/>
        </p:nvSpPr>
        <p:spPr>
          <a:xfrm>
            <a:off x="4846320" y="4434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flip, rotation, and zoom.</a:t>
            </a:r>
            <a:endParaRPr lang="en-US" sz="1050" dirty="0"/>
          </a:p>
        </p:txBody>
      </p:sp>
      <p:sp>
        <p:nvSpPr>
          <p:cNvPr id="48" name="Shape 36"/>
          <p:cNvSpPr/>
          <p:nvPr/>
        </p:nvSpPr>
        <p:spPr>
          <a:xfrm>
            <a:off x="4206240" y="512978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19397" y="5242941"/>
            <a:ext cx="276606" cy="276606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4846320" y="51023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Split</a:t>
            </a:r>
            <a:endParaRPr lang="en-US" sz="1300" dirty="0"/>
          </a:p>
        </p:txBody>
      </p:sp>
      <p:sp>
        <p:nvSpPr>
          <p:cNvPr id="51" name="Text 38"/>
          <p:cNvSpPr/>
          <p:nvPr/>
        </p:nvSpPr>
        <p:spPr>
          <a:xfrm>
            <a:off x="4846320" y="53675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training, 20% validation.</a:t>
            </a:r>
            <a:endParaRPr lang="en-US" sz="1050" dirty="0"/>
          </a:p>
        </p:txBody>
      </p:sp>
      <p:sp>
        <p:nvSpPr>
          <p:cNvPr id="52" name="Shape 39"/>
          <p:cNvSpPr/>
          <p:nvPr/>
        </p:nvSpPr>
        <p:spPr>
          <a:xfrm>
            <a:off x="8001000" y="1508760"/>
            <a:ext cx="3703320" cy="4892040"/>
          </a:xfrm>
          <a:prstGeom prst="roundRect">
            <a:avLst>
              <a:gd name="adj" fmla="val 2963"/>
            </a:avLst>
          </a:prstGeom>
          <a:solidFill>
            <a:srgbClr val="F5F8F3"/>
          </a:solidFill>
          <a:ln/>
        </p:spPr>
      </p:sp>
      <p:sp>
        <p:nvSpPr>
          <p:cNvPr id="53" name="Text 40"/>
          <p:cNvSpPr/>
          <p:nvPr/>
        </p:nvSpPr>
        <p:spPr>
          <a:xfrm>
            <a:off x="8275320" y="176479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METHOD</a:t>
            </a:r>
            <a:endParaRPr lang="en-US" sz="1300" dirty="0"/>
          </a:p>
        </p:txBody>
      </p:sp>
      <p:sp>
        <p:nvSpPr>
          <p:cNvPr id="54" name="Shape 41"/>
          <p:cNvSpPr/>
          <p:nvPr/>
        </p:nvSpPr>
        <p:spPr>
          <a:xfrm>
            <a:off x="8275320" y="23317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8477" y="2444877"/>
            <a:ext cx="276606" cy="276606"/>
          </a:xfrm>
          <a:prstGeom prst="rect">
            <a:avLst/>
          </a:prstGeom>
        </p:spPr>
      </p:pic>
      <p:sp>
        <p:nvSpPr>
          <p:cNvPr id="56" name="Text 42"/>
          <p:cNvSpPr/>
          <p:nvPr/>
        </p:nvSpPr>
        <p:spPr>
          <a:xfrm>
            <a:off x="8915400" y="230428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Random Seed</a:t>
            </a:r>
            <a:endParaRPr lang="en-US" sz="1300" dirty="0"/>
          </a:p>
        </p:txBody>
      </p:sp>
      <p:sp>
        <p:nvSpPr>
          <p:cNvPr id="57" name="Text 43"/>
          <p:cNvSpPr/>
          <p:nvPr/>
        </p:nvSpPr>
        <p:spPr>
          <a:xfrm>
            <a:off x="8915400" y="256946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= 123 for full reproducibility.</a:t>
            </a:r>
            <a:endParaRPr lang="en-US" sz="1050" dirty="0"/>
          </a:p>
        </p:txBody>
      </p:sp>
      <p:sp>
        <p:nvSpPr>
          <p:cNvPr id="58" name="Shape 44"/>
          <p:cNvSpPr/>
          <p:nvPr/>
        </p:nvSpPr>
        <p:spPr>
          <a:xfrm>
            <a:off x="8275320" y="326440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88477" y="3377565"/>
            <a:ext cx="276606" cy="276606"/>
          </a:xfrm>
          <a:prstGeom prst="rect">
            <a:avLst/>
          </a:prstGeom>
        </p:spPr>
      </p:pic>
      <p:sp>
        <p:nvSpPr>
          <p:cNvPr id="60" name="Text 45"/>
          <p:cNvSpPr/>
          <p:nvPr/>
        </p:nvSpPr>
        <p:spPr>
          <a:xfrm>
            <a:off x="8915400" y="323697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AUTOTUNE</a:t>
            </a:r>
            <a:endParaRPr lang="en-US" sz="1300" dirty="0"/>
          </a:p>
        </p:txBody>
      </p:sp>
      <p:sp>
        <p:nvSpPr>
          <p:cNvPr id="61" name="Text 46"/>
          <p:cNvSpPr/>
          <p:nvPr/>
        </p:nvSpPr>
        <p:spPr>
          <a:xfrm>
            <a:off x="8915400" y="350215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tf.data.AUTOTUNE for thread optimization.</a:t>
            </a:r>
            <a:endParaRPr lang="en-US" sz="1050" dirty="0"/>
          </a:p>
        </p:txBody>
      </p:sp>
      <p:sp>
        <p:nvSpPr>
          <p:cNvPr id="62" name="Shape 47"/>
          <p:cNvSpPr/>
          <p:nvPr/>
        </p:nvSpPr>
        <p:spPr>
          <a:xfrm>
            <a:off x="8275320" y="4197096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8477" y="4310253"/>
            <a:ext cx="276606" cy="276606"/>
          </a:xfrm>
          <a:prstGeom prst="rect">
            <a:avLst/>
          </a:prstGeom>
        </p:spPr>
      </p:pic>
      <p:sp>
        <p:nvSpPr>
          <p:cNvPr id="64" name="Text 48"/>
          <p:cNvSpPr/>
          <p:nvPr/>
        </p:nvSpPr>
        <p:spPr>
          <a:xfrm>
            <a:off x="8915400" y="416966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Caching</a:t>
            </a:r>
            <a:endParaRPr lang="en-US" sz="1300" dirty="0"/>
          </a:p>
        </p:txBody>
      </p:sp>
      <p:sp>
        <p:nvSpPr>
          <p:cNvPr id="65" name="Text 49"/>
          <p:cNvSpPr/>
          <p:nvPr/>
        </p:nvSpPr>
        <p:spPr>
          <a:xfrm>
            <a:off x="8915400" y="4434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.cache() keeps batches in memory.</a:t>
            </a:r>
            <a:endParaRPr lang="en-US" sz="1050" dirty="0"/>
          </a:p>
        </p:txBody>
      </p:sp>
      <p:sp>
        <p:nvSpPr>
          <p:cNvPr id="66" name="Shape 50"/>
          <p:cNvSpPr/>
          <p:nvPr/>
        </p:nvSpPr>
        <p:spPr>
          <a:xfrm>
            <a:off x="8275320" y="512978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88477" y="5242941"/>
            <a:ext cx="276606" cy="276606"/>
          </a:xfrm>
          <a:prstGeom prst="rect">
            <a:avLst/>
          </a:prstGeom>
        </p:spPr>
      </p:pic>
      <p:sp>
        <p:nvSpPr>
          <p:cNvPr id="68" name="Text 51"/>
          <p:cNvSpPr/>
          <p:nvPr/>
        </p:nvSpPr>
        <p:spPr>
          <a:xfrm>
            <a:off x="8915400" y="51023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Prefetching</a:t>
            </a:r>
            <a:endParaRPr lang="en-US" sz="1300" dirty="0"/>
          </a:p>
        </p:txBody>
      </p:sp>
      <p:sp>
        <p:nvSpPr>
          <p:cNvPr id="69" name="Text 52"/>
          <p:cNvSpPr/>
          <p:nvPr/>
        </p:nvSpPr>
        <p:spPr>
          <a:xfrm>
            <a:off x="8915400" y="53675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.prefetch() streams data to the GPU.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iSchool  ×  Orange Digital Center (ODC)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Building &amp;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349240" cy="3246120"/>
          </a:xfrm>
          <a:prstGeom prst="roundRect">
            <a:avLst>
              <a:gd name="adj" fmla="val 3380"/>
            </a:avLst>
          </a:prstGeom>
          <a:solidFill>
            <a:srgbClr val="F5F8F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2279142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139696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Transfer Learning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371600" y="237744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ImageNet.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77240" y="279806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10" y="2900934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761488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Base Weights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371600" y="299923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Dense classification head on top.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77240" y="341985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3522726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383280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(0.2)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371600" y="3621024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to combat overfitting.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777240" y="40416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0" y="4144518"/>
            <a:ext cx="251460" cy="2514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4005072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(~11 MB)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1371600" y="4242816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inference in the browser/web app.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6080760" y="1463040"/>
            <a:ext cx="5349240" cy="3246120"/>
          </a:xfrm>
          <a:prstGeom prst="roundRect">
            <a:avLst>
              <a:gd name="adj" fmla="val 3380"/>
            </a:avLst>
          </a:prstGeom>
          <a:solidFill>
            <a:srgbClr val="E4EFDD"/>
          </a:solidFill>
          <a:ln/>
        </p:spPr>
      </p:sp>
      <p:sp>
        <p:nvSpPr>
          <p:cNvPr id="23" name="Text 17"/>
          <p:cNvSpPr/>
          <p:nvPr/>
        </p:nvSpPr>
        <p:spPr>
          <a:xfrm>
            <a:off x="6400800" y="16916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400800" y="21762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3670" y="2279142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995160" y="2139696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Validation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6995160" y="237744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unseen validation data.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6400800" y="279806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3670" y="2900934"/>
            <a:ext cx="251460" cy="25146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995160" y="2761488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6995160" y="299923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to inspect class predictions.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6400800" y="341985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3670" y="3522726"/>
            <a:ext cx="251460" cy="25146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995160" y="3383280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Metrics</a:t>
            </a:r>
            <a:endParaRPr lang="en-US" sz="1250" dirty="0"/>
          </a:p>
        </p:txBody>
      </p:sp>
      <p:sp>
        <p:nvSpPr>
          <p:cNvPr id="35" name="Text 26"/>
          <p:cNvSpPr/>
          <p:nvPr/>
        </p:nvSpPr>
        <p:spPr>
          <a:xfrm>
            <a:off x="6995160" y="3621024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across all 7 classes.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6400800" y="40416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3670" y="4144518"/>
            <a:ext cx="251460" cy="25146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995160" y="4005072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Deployment-Ready</a:t>
            </a:r>
            <a:endParaRPr lang="en-US" sz="1250" dirty="0"/>
          </a:p>
        </p:txBody>
      </p:sp>
      <p:sp>
        <p:nvSpPr>
          <p:cNvPr id="39" name="Text 29"/>
          <p:cNvSpPr/>
          <p:nvPr/>
        </p:nvSpPr>
        <p:spPr>
          <a:xfrm>
            <a:off x="6995160" y="4242816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real-world application.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457200" y="498348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1F4D2C"/>
          </a:solidFill>
          <a:ln/>
        </p:spPr>
      </p:sp>
      <p:sp>
        <p:nvSpPr>
          <p:cNvPr id="41" name="Text 31"/>
          <p:cNvSpPr/>
          <p:nvPr/>
        </p:nvSpPr>
        <p:spPr>
          <a:xfrm>
            <a:off x="457200" y="50749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~11 MB</a:t>
            </a:r>
            <a:endParaRPr lang="en-US" sz="2600" dirty="0"/>
          </a:p>
        </p:txBody>
      </p:sp>
      <p:sp>
        <p:nvSpPr>
          <p:cNvPr id="42" name="Text 32"/>
          <p:cNvSpPr/>
          <p:nvPr/>
        </p:nvSpPr>
        <p:spPr>
          <a:xfrm>
            <a:off x="457200" y="56418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6F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1050" dirty="0"/>
          </a:p>
        </p:txBody>
      </p:sp>
      <p:sp>
        <p:nvSpPr>
          <p:cNvPr id="43" name="Shape 33"/>
          <p:cNvSpPr/>
          <p:nvPr/>
        </p:nvSpPr>
        <p:spPr>
          <a:xfrm>
            <a:off x="3200400" y="498348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1F4D2C"/>
          </a:solidFill>
          <a:ln/>
        </p:spPr>
      </p:sp>
      <p:sp>
        <p:nvSpPr>
          <p:cNvPr id="44" name="Text 34"/>
          <p:cNvSpPr/>
          <p:nvPr/>
        </p:nvSpPr>
        <p:spPr>
          <a:xfrm>
            <a:off x="3200400" y="50749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45" name="Text 35"/>
          <p:cNvSpPr/>
          <p:nvPr/>
        </p:nvSpPr>
        <p:spPr>
          <a:xfrm>
            <a:off x="3200400" y="56418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6F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Categories</a:t>
            </a:r>
            <a:endParaRPr lang="en-US" sz="1050" dirty="0"/>
          </a:p>
        </p:txBody>
      </p:sp>
      <p:sp>
        <p:nvSpPr>
          <p:cNvPr id="46" name="Shape 36"/>
          <p:cNvSpPr/>
          <p:nvPr/>
        </p:nvSpPr>
        <p:spPr>
          <a:xfrm>
            <a:off x="5943600" y="498348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1F4D2C"/>
          </a:solidFill>
          <a:ln/>
        </p:spPr>
      </p:sp>
      <p:sp>
        <p:nvSpPr>
          <p:cNvPr id="47" name="Text 37"/>
          <p:cNvSpPr/>
          <p:nvPr/>
        </p:nvSpPr>
        <p:spPr>
          <a:xfrm>
            <a:off x="5943600" y="50749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224×224</a:t>
            </a:r>
            <a:endParaRPr lang="en-US" sz="2600" dirty="0"/>
          </a:p>
        </p:txBody>
      </p:sp>
      <p:sp>
        <p:nvSpPr>
          <p:cNvPr id="48" name="Text 38"/>
          <p:cNvSpPr/>
          <p:nvPr/>
        </p:nvSpPr>
        <p:spPr>
          <a:xfrm>
            <a:off x="5943600" y="56418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6F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Resolution</a:t>
            </a:r>
            <a:endParaRPr lang="en-US" sz="1050" dirty="0"/>
          </a:p>
        </p:txBody>
      </p:sp>
      <p:sp>
        <p:nvSpPr>
          <p:cNvPr id="49" name="Shape 39"/>
          <p:cNvSpPr/>
          <p:nvPr/>
        </p:nvSpPr>
        <p:spPr>
          <a:xfrm>
            <a:off x="8686800" y="498348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1F4D2C"/>
          </a:solidFill>
          <a:ln/>
        </p:spPr>
      </p:sp>
      <p:sp>
        <p:nvSpPr>
          <p:cNvPr id="50" name="Text 40"/>
          <p:cNvSpPr/>
          <p:nvPr/>
        </p:nvSpPr>
        <p:spPr>
          <a:xfrm>
            <a:off x="8686800" y="50749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/ 20</a:t>
            </a:r>
            <a:endParaRPr lang="en-US" sz="2600" dirty="0"/>
          </a:p>
        </p:txBody>
      </p:sp>
      <p:sp>
        <p:nvSpPr>
          <p:cNvPr id="51" name="Text 41"/>
          <p:cNvSpPr/>
          <p:nvPr/>
        </p:nvSpPr>
        <p:spPr>
          <a:xfrm>
            <a:off x="8686800" y="56418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6F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Split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iSchool  ×  Orange Digital Center (ODC)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Creativity &amp; Live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621792"/>
            <a:ext cx="2084832" cy="457200"/>
          </a:xfrm>
          <a:prstGeom prst="roundRect">
            <a:avLst>
              <a:gd name="adj" fmla="val 50000"/>
            </a:avLst>
          </a:prstGeom>
          <a:solidFill>
            <a:srgbClr val="EE7B30"/>
          </a:solidFill>
          <a:ln/>
        </p:spPr>
      </p:sp>
      <p:sp>
        <p:nvSpPr>
          <p:cNvPr id="5" name="Text 3"/>
          <p:cNvSpPr/>
          <p:nvPr/>
        </p:nvSpPr>
        <p:spPr>
          <a:xfrm>
            <a:off x="9646920" y="621792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 CREATIVITY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349240" cy="4983480"/>
          </a:xfrm>
          <a:prstGeom prst="roundRect">
            <a:avLst>
              <a:gd name="adj" fmla="val 2202"/>
            </a:avLst>
          </a:prstGeom>
          <a:solidFill>
            <a:srgbClr val="F5F8F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7335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HIGHLIGHTS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2240280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569" y="2359609"/>
            <a:ext cx="291694" cy="29169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22199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App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463040" y="249631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Streamlit (app.py).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77240" y="3264408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69" y="3383737"/>
            <a:ext cx="291694" cy="29169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63040" y="324612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Score Persistence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463040" y="352044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 stored in users_db.json.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77240" y="4288536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569" y="4407865"/>
            <a:ext cx="291694" cy="29169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427024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Rank Progression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463040" y="4544568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→ Activist → Champion.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77240" y="5312664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569" y="5431993"/>
            <a:ext cx="291694" cy="2916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5294376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Savings Engine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463040" y="5568696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Grams of CO2 saved + safety disposal tips per item.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080760" y="1417320"/>
            <a:ext cx="5349240" cy="4983480"/>
          </a:xfrm>
          <a:prstGeom prst="roundRect">
            <a:avLst>
              <a:gd name="adj" fmla="val 2202"/>
            </a:avLst>
          </a:prstGeom>
          <a:solidFill>
            <a:srgbClr val="1F4D2C"/>
          </a:solidFill>
          <a:ln/>
        </p:spPr>
      </p:sp>
      <p:sp>
        <p:nvSpPr>
          <p:cNvPr id="25" name="Text 19"/>
          <p:cNvSpPr/>
          <p:nvPr/>
        </p:nvSpPr>
        <p:spPr>
          <a:xfrm>
            <a:off x="6400800" y="167335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F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EXPERIENCE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6400800" y="2258568"/>
            <a:ext cx="530352" cy="530352"/>
          </a:xfrm>
          <a:prstGeom prst="ellipse">
            <a:avLst/>
          </a:prstGeom>
          <a:solidFill>
            <a:srgbClr val="EE7B30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0129" y="2377897"/>
            <a:ext cx="291694" cy="29169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400800" y="2130552"/>
            <a:ext cx="292608" cy="292608"/>
          </a:xfrm>
          <a:prstGeom prst="ellipse">
            <a:avLst/>
          </a:prstGeom>
          <a:solidFill>
            <a:srgbClr val="163A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7086600" y="22402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086600" y="251460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prediction with a confidence score (%).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6400800" y="3282696"/>
            <a:ext cx="530352" cy="530352"/>
          </a:xfrm>
          <a:prstGeom prst="ellipse">
            <a:avLst/>
          </a:prstGeom>
          <a:solidFill>
            <a:srgbClr val="EE7B30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0129" y="3402025"/>
            <a:ext cx="291694" cy="29169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400800" y="3154680"/>
            <a:ext cx="292608" cy="292608"/>
          </a:xfrm>
          <a:prstGeom prst="ellipse">
            <a:avLst/>
          </a:prstGeom>
          <a:solidFill>
            <a:srgbClr val="163A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7086600" y="326440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Auto-Classification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7086600" y="3538728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category identified in real time.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6400800" y="4306824"/>
            <a:ext cx="530352" cy="530352"/>
          </a:xfrm>
          <a:prstGeom prst="ellipse">
            <a:avLst/>
          </a:prstGeom>
          <a:solidFill>
            <a:srgbClr val="EE7B30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0129" y="4426153"/>
            <a:ext cx="291694" cy="29169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400800" y="4178808"/>
            <a:ext cx="292608" cy="292608"/>
          </a:xfrm>
          <a:prstGeom prst="ellipse">
            <a:avLst/>
          </a:prstGeom>
          <a:solidFill>
            <a:srgbClr val="163A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7086600" y="428853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Eco-Point Allocation</a:t>
            </a:r>
            <a:endParaRPr lang="en-US" sz="1300" dirty="0"/>
          </a:p>
        </p:txBody>
      </p:sp>
      <p:sp>
        <p:nvSpPr>
          <p:cNvPr id="40" name="Text 31"/>
          <p:cNvSpPr/>
          <p:nvPr/>
        </p:nvSpPr>
        <p:spPr>
          <a:xfrm>
            <a:off x="7086600" y="4562856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Awarded automatically on recycling confirmation.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6400800" y="5330952"/>
            <a:ext cx="530352" cy="530352"/>
          </a:xfrm>
          <a:prstGeom prst="ellipse">
            <a:avLst/>
          </a:prstGeom>
          <a:solidFill>
            <a:srgbClr val="EE7B30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0129" y="5450281"/>
            <a:ext cx="291694" cy="291694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6400800" y="5202936"/>
            <a:ext cx="292608" cy="292608"/>
          </a:xfrm>
          <a:prstGeom prst="ellipse">
            <a:avLst/>
          </a:prstGeom>
          <a:solidFill>
            <a:srgbClr val="163A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4" name="Text 34"/>
          <p:cNvSpPr/>
          <p:nvPr/>
        </p:nvSpPr>
        <p:spPr>
          <a:xfrm>
            <a:off x="7086600" y="531266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300" dirty="0"/>
          </a:p>
        </p:txBody>
      </p:sp>
      <p:sp>
        <p:nvSpPr>
          <p:cNvPr id="45" name="Text 35"/>
          <p:cNvSpPr/>
          <p:nvPr/>
        </p:nvSpPr>
        <p:spPr>
          <a:xfrm>
            <a:off x="7086600" y="5586984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impact + safety tips update in the profile.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4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846320"/>
            <a:ext cx="5029200" cy="5029200"/>
          </a:xfrm>
          <a:prstGeom prst="ellipse">
            <a:avLst/>
          </a:prstGeom>
          <a:solidFill>
            <a:srgbClr val="6FA84B"/>
          </a:solidFill>
          <a:ln/>
        </p:spPr>
      </p:sp>
      <p:sp>
        <p:nvSpPr>
          <p:cNvPr id="3" name="Shape 1"/>
          <p:cNvSpPr/>
          <p:nvPr/>
        </p:nvSpPr>
        <p:spPr>
          <a:xfrm>
            <a:off x="-2103120" y="-2377440"/>
            <a:ext cx="3291840" cy="3291840"/>
          </a:xfrm>
          <a:prstGeom prst="ellipse">
            <a:avLst/>
          </a:prstGeom>
          <a:solidFill>
            <a:srgbClr val="EE7B3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E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iSchool  ×  Orange Digital Center (ODC)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Q&amp;A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881360" cy="2286000"/>
          </a:xfrm>
          <a:prstGeom prst="roundRect">
            <a:avLst>
              <a:gd name="adj" fmla="val 4800"/>
            </a:avLst>
          </a:prstGeom>
          <a:solidFill>
            <a:srgbClr val="163A2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019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F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60120" y="233172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39572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304288"/>
            <a:ext cx="9784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high-accuracy, lightweight, and fast computer vision classifier.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960120" y="286207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926080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2834640"/>
            <a:ext cx="9784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full working web application bridging AI output to eco-habits.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960120" y="339242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456432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364992"/>
            <a:ext cx="9784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well-documented, and reproducible codebase.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40080" y="42062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thanks to the iSchool &amp; Orange Digital Center (ODC) instructors!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632704" y="4800600"/>
            <a:ext cx="914400" cy="914400"/>
          </a:xfrm>
          <a:prstGeom prst="ellipse">
            <a:avLst/>
          </a:prstGeom>
          <a:solidFill>
            <a:srgbClr val="EE7B30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8444" y="500634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" y="58064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for Evaluators' Questions &amp; Answers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2026-09-02T08:53:28Z</dcterms:created>
  <dcterms:modified xsi:type="dcterms:W3CDTF">2026-09-02T08:53:28Z</dcterms:modified>
</cp:coreProperties>
</file>